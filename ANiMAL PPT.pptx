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8" r:id="rId3"/>
    <p:sldId id="260" r:id="rId4"/>
    <p:sldId id="261" r:id="rId5"/>
    <p:sldId id="266" r:id="rId6"/>
    <p:sldId id="263"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388"/>
  </p:normalViewPr>
  <p:slideViewPr>
    <p:cSldViewPr snapToGrid="0">
      <p:cViewPr varScale="1">
        <p:scale>
          <a:sx n="87" d="100"/>
          <a:sy n="87" d="100"/>
        </p:scale>
        <p:origin x="20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ith McHugh" userId="1119c209-46f0-4e94-ac7f-33ffa56ae369" providerId="ADAL" clId="{B3492A37-735D-994E-86EA-4DFB8FEC1F80}"/>
    <pc:docChg chg="modSld">
      <pc:chgData name="Keith McHugh" userId="1119c209-46f0-4e94-ac7f-33ffa56ae369" providerId="ADAL" clId="{B3492A37-735D-994E-86EA-4DFB8FEC1F80}" dt="2025-04-29T15:28:59.385" v="0"/>
      <pc:docMkLst>
        <pc:docMk/>
      </pc:docMkLst>
      <pc:sldChg chg="modNotesTx">
        <pc:chgData name="Keith McHugh" userId="1119c209-46f0-4e94-ac7f-33ffa56ae369" providerId="ADAL" clId="{B3492A37-735D-994E-86EA-4DFB8FEC1F80}" dt="2025-04-29T15:28:59.385" v="0"/>
        <pc:sldMkLst>
          <pc:docMk/>
          <pc:sldMk cId="1906471501"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13E5C3-4D4B-2A4D-8188-83C83B7EF2BF}" type="datetimeFigureOut">
              <a:rPr lang="en-US" smtClean="0"/>
              <a:t>4/29/25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05FB6-82B6-D646-B490-6FC2C56731CB}" type="slidenum">
              <a:rPr lang="en-US" smtClean="0"/>
              <a:t>‹#›</a:t>
            </a:fld>
            <a:endParaRPr lang="en-US"/>
          </a:p>
        </p:txBody>
      </p:sp>
    </p:spTree>
    <p:extLst>
      <p:ext uri="{BB962C8B-B14F-4D97-AF65-F5344CB8AC3E}">
        <p14:creationId xmlns:p14="http://schemas.microsoft.com/office/powerpoint/2010/main" val="2085280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mentalhealth.org.uk/explore-mental-health/a-z-topics/physical-activity-and-mental-health"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www.mentalhealth.org.uk/explore-mental-health/a-z-topics/anxiety" TargetMode="External"/><Relationship Id="rId4" Type="http://schemas.openxmlformats.org/officeDocument/2006/relationships/hyperlink" Target="https://www.mentalhealth.org.uk/explore-mental-health/podcasts/stress-and-mental-health"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linkedin.com/pulse/how-build-self-discipline-strengthen-your-willpower-bernard-mankhin-ob0oc"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apa.org/topics/personality/willpowe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Workshop Opening: “Choose Your Hard”</a:t>
            </a:r>
          </a:p>
          <a:p>
            <a:pPr>
              <a:buNone/>
            </a:pPr>
            <a:br>
              <a:rPr lang="en-US" dirty="0"/>
            </a:br>
            <a:endParaRPr lang="en-US" dirty="0"/>
          </a:p>
          <a:p>
            <a:pPr>
              <a:buNone/>
            </a:pPr>
            <a:r>
              <a:rPr lang="en-US" b="1" dirty="0"/>
              <a:t>[Start with silence and presence – look around the room, let the energy settle.]</a:t>
            </a:r>
            <a:endParaRPr lang="en-US" dirty="0"/>
          </a:p>
          <a:p>
            <a:pPr>
              <a:buNone/>
            </a:pPr>
            <a:br>
              <a:rPr lang="en-US" dirty="0"/>
            </a:br>
            <a:endParaRPr lang="en-US" dirty="0"/>
          </a:p>
          <a:p>
            <a:pPr>
              <a:buNone/>
            </a:pPr>
            <a:r>
              <a:rPr lang="en-US" dirty="0"/>
              <a:t>“Let me get something out of the way right now… Nothing I’m going to talk about today is easy. Discipline isn’t easy. Waking up early, showing up when you’re tired, sticking to a routine when nobody’s watching—that stuff is hard.” </a:t>
            </a:r>
            <a:br>
              <a:rPr lang="en-US" dirty="0"/>
            </a:br>
            <a:endParaRPr lang="en-US" dirty="0"/>
          </a:p>
          <a:p>
            <a:pPr>
              <a:buNone/>
            </a:pPr>
            <a:r>
              <a:rPr lang="en-US" b="1" dirty="0"/>
              <a:t>[Pause – then lower your voice, lean in a bit]</a:t>
            </a:r>
            <a:endParaRPr lang="en-US" dirty="0"/>
          </a:p>
          <a:p>
            <a:pPr>
              <a:buNone/>
            </a:pPr>
            <a:br>
              <a:rPr lang="en-US" dirty="0"/>
            </a:br>
            <a:endParaRPr lang="en-US" dirty="0"/>
          </a:p>
          <a:p>
            <a:pPr>
              <a:buNone/>
            </a:pPr>
            <a:r>
              <a:rPr lang="en-US" dirty="0"/>
              <a:t>“But you know what else is hard? Feeling sick all the time. Being overweight and tired. Hating what you see in the mirror. Living life knowing you’re capable of more—but never doing anything about it. That’s hard too.” </a:t>
            </a:r>
            <a:br>
              <a:rPr lang="en-US" dirty="0"/>
            </a:br>
            <a:endParaRPr lang="en-US" dirty="0"/>
          </a:p>
          <a:p>
            <a:pPr>
              <a:buNone/>
            </a:pPr>
            <a:r>
              <a:rPr lang="en-US" b="1" dirty="0"/>
              <a:t>[Beat – then let the message land]</a:t>
            </a:r>
            <a:endParaRPr lang="en-US" dirty="0"/>
          </a:p>
          <a:p>
            <a:pPr>
              <a:buNone/>
            </a:pPr>
            <a:br>
              <a:rPr lang="en-US" dirty="0"/>
            </a:br>
            <a:endParaRPr lang="en-US" dirty="0"/>
          </a:p>
          <a:p>
            <a:pPr>
              <a:buNone/>
            </a:pPr>
            <a:r>
              <a:rPr lang="en-US" dirty="0"/>
              <a:t>“So we all have to </a:t>
            </a:r>
            <a:r>
              <a:rPr lang="en-US" b="1" dirty="0"/>
              <a:t>choose our hard</a:t>
            </a:r>
            <a:r>
              <a:rPr lang="en-US" dirty="0"/>
              <a:t>. One hard leads to strength, freedom, and pride. The other leads to regret, pain, and limitation. You get to choose. Every single day.” </a:t>
            </a:r>
            <a:br>
              <a:rPr lang="en-US" dirty="0"/>
            </a:br>
            <a:endParaRPr lang="en-US" dirty="0"/>
          </a:p>
          <a:p>
            <a:pPr>
              <a:buNone/>
            </a:pPr>
            <a:r>
              <a:rPr lang="en-US" b="1" dirty="0"/>
              <a:t>[Now step into your mission – shift from pain to purpose]</a:t>
            </a:r>
            <a:endParaRPr lang="en-US" dirty="0"/>
          </a:p>
          <a:p>
            <a:pPr>
              <a:buNone/>
            </a:pPr>
            <a:br>
              <a:rPr lang="en-US" dirty="0"/>
            </a:br>
            <a:endParaRPr lang="en-US" dirty="0"/>
          </a:p>
          <a:p>
            <a:pPr>
              <a:buNone/>
            </a:pPr>
            <a:r>
              <a:rPr lang="en-US" dirty="0"/>
              <a:t>“This workshop isn’t about chasing motivation. Motivation is weak—it fades. This is about building discipline. Because </a:t>
            </a:r>
            <a:r>
              <a:rPr lang="en-US" i="1" dirty="0"/>
              <a:t>discipline creates freedom</a:t>
            </a:r>
            <a:r>
              <a:rPr lang="en-US" dirty="0"/>
              <a:t>. And </a:t>
            </a:r>
            <a:r>
              <a:rPr lang="en-US" i="1" dirty="0"/>
              <a:t>movement is medicine</a:t>
            </a:r>
            <a:r>
              <a:rPr lang="en-US" dirty="0"/>
              <a:t>—for your body, your mind, and your life.” </a:t>
            </a:r>
            <a:br>
              <a:rPr lang="en-US" dirty="0"/>
            </a:br>
            <a:endParaRPr lang="en-US" dirty="0"/>
          </a:p>
          <a:p>
            <a:pPr>
              <a:buNone/>
            </a:pPr>
            <a:r>
              <a:rPr lang="en-US" b="1" dirty="0"/>
              <a:t>[Final setup before the content begins]</a:t>
            </a:r>
            <a:endParaRPr lang="en-US" dirty="0"/>
          </a:p>
          <a:p>
            <a:pPr>
              <a:buNone/>
            </a:pPr>
            <a:br>
              <a:rPr lang="en-US" dirty="0"/>
            </a:br>
            <a:endParaRPr lang="en-US" dirty="0"/>
          </a:p>
          <a:p>
            <a:pPr>
              <a:buNone/>
            </a:pPr>
            <a:r>
              <a:rPr lang="en-US" dirty="0"/>
              <a:t>“I’m here to challenge you, but also to give you tools. Tools that work when you don’t feel like it. Tools that help you push through. </a:t>
            </a:r>
            <a:r>
              <a:rPr lang="en-US"/>
              <a:t>Tools that will keep you moving long after the motivation fades.” </a:t>
            </a:r>
          </a:p>
        </p:txBody>
      </p:sp>
      <p:sp>
        <p:nvSpPr>
          <p:cNvPr id="4" name="Slide Number Placeholder 3"/>
          <p:cNvSpPr>
            <a:spLocks noGrp="1"/>
          </p:cNvSpPr>
          <p:nvPr>
            <p:ph type="sldNum" sz="quarter" idx="5"/>
          </p:nvPr>
        </p:nvSpPr>
        <p:spPr/>
        <p:txBody>
          <a:bodyPr/>
          <a:lstStyle/>
          <a:p>
            <a:fld id="{2EE05FB6-82B6-D646-B490-6FC2C56731CB}" type="slidenum">
              <a:rPr lang="en-US" smtClean="0"/>
              <a:t>1</a:t>
            </a:fld>
            <a:endParaRPr lang="en-US"/>
          </a:p>
        </p:txBody>
      </p:sp>
    </p:spTree>
    <p:extLst>
      <p:ext uri="{BB962C8B-B14F-4D97-AF65-F5344CB8AC3E}">
        <p14:creationId xmlns:p14="http://schemas.microsoft.com/office/powerpoint/2010/main" val="2910650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650"/>
              </a:lnSpc>
              <a:spcBef>
                <a:spcPts val="750"/>
              </a:spcBef>
              <a:spcAft>
                <a:spcPts val="600"/>
              </a:spcAft>
              <a:buFont typeface="Arial" panose="020B0604020202020204" pitchFamily="34" charset="0"/>
              <a:buChar char="•"/>
            </a:pPr>
            <a:r>
              <a:rPr lang="en-US" b="1" i="0" dirty="0">
                <a:solidFill>
                  <a:srgbClr val="ECECEC"/>
                </a:solidFill>
                <a:effectLst/>
                <a:latin typeface="Google Sans"/>
              </a:rPr>
              <a:t>Discipline as a Tool for Goal Achievement:</a:t>
            </a:r>
            <a:endParaRPr lang="en-US" b="0" i="0" dirty="0">
              <a:solidFill>
                <a:srgbClr val="ECECEC"/>
              </a:solidFill>
              <a:effectLst/>
              <a:latin typeface="Google Sans"/>
            </a:endParaRPr>
          </a:p>
          <a:p>
            <a:pPr algn="l">
              <a:lnSpc>
                <a:spcPts val="1650"/>
              </a:lnSpc>
              <a:spcBef>
                <a:spcPts val="750"/>
              </a:spcBef>
              <a:spcAft>
                <a:spcPts val="600"/>
              </a:spcAft>
              <a:buFont typeface="Arial" panose="020B0604020202020204" pitchFamily="34" charset="0"/>
              <a:buChar char="•"/>
            </a:pPr>
            <a:r>
              <a:rPr lang="en-US" b="0" i="0" dirty="0">
                <a:solidFill>
                  <a:srgbClr val="ECECEC"/>
                </a:solidFill>
                <a:effectLst/>
                <a:latin typeface="Google Sans"/>
              </a:rPr>
              <a:t>When individuals practice self-discipline, they are better equipped to manage their time, energy, and resources effectively. This, in turn, enables them to work towards their objectives with greater focus and efficiency. For instance, financial discipline can lead to financial freedom, and time management discipline can lead to more free time. </a:t>
            </a:r>
          </a:p>
          <a:p>
            <a:endParaRPr lang="en-US" dirty="0"/>
          </a:p>
          <a:p>
            <a:pPr algn="l">
              <a:lnSpc>
                <a:spcPts val="1650"/>
              </a:lnSpc>
              <a:spcBef>
                <a:spcPts val="750"/>
              </a:spcBef>
              <a:spcAft>
                <a:spcPts val="1500"/>
              </a:spcAft>
              <a:buFont typeface="Arial" panose="020B0604020202020204" pitchFamily="34" charset="0"/>
              <a:buChar char="•"/>
            </a:pPr>
            <a:r>
              <a:rPr lang="en-US" b="1" i="0" dirty="0">
                <a:solidFill>
                  <a:srgbClr val="ECECEC"/>
                </a:solidFill>
                <a:effectLst/>
                <a:latin typeface="Google Sans"/>
              </a:rPr>
              <a:t>Examples:</a:t>
            </a:r>
            <a:endParaRPr lang="en-US" b="0" i="0" dirty="0">
              <a:solidFill>
                <a:srgbClr val="ECECEC"/>
              </a:solidFill>
              <a:effectLst/>
              <a:latin typeface="Google Sans"/>
            </a:endParaRPr>
          </a:p>
          <a:p>
            <a:pPr algn="l" fontAlgn="ctr">
              <a:lnSpc>
                <a:spcPts val="1650"/>
              </a:lnSpc>
              <a:spcBef>
                <a:spcPts val="600"/>
              </a:spcBef>
              <a:spcAft>
                <a:spcPts val="600"/>
              </a:spcAft>
              <a:buFont typeface="Arial" panose="020B0604020202020204" pitchFamily="34" charset="0"/>
              <a:buChar char="•"/>
            </a:pPr>
            <a:r>
              <a:rPr lang="en-US" b="1" i="0" dirty="0">
                <a:solidFill>
                  <a:srgbClr val="ECECEC"/>
                </a:solidFill>
                <a:effectLst/>
                <a:latin typeface="Google Sans"/>
              </a:rPr>
              <a:t>Financial Discipline:</a:t>
            </a:r>
            <a:r>
              <a:rPr lang="en-US" b="0" i="0" dirty="0">
                <a:solidFill>
                  <a:srgbClr val="ECECEC"/>
                </a:solidFill>
                <a:effectLst/>
                <a:latin typeface="Google Sans"/>
              </a:rPr>
              <a:t> Saving money, budgeting, and avoiding unnecessary spending can lead to financial independence and freedom from financial worries. </a:t>
            </a:r>
            <a:endParaRPr lang="en-US" b="0" i="0" dirty="0">
              <a:solidFill>
                <a:srgbClr val="A8C7FA"/>
              </a:solidFill>
              <a:effectLst/>
              <a:latin typeface="Google Sans"/>
            </a:endParaRPr>
          </a:p>
          <a:p>
            <a:pPr algn="l" fontAlgn="ctr">
              <a:lnSpc>
                <a:spcPts val="1650"/>
              </a:lnSpc>
              <a:spcBef>
                <a:spcPts val="600"/>
              </a:spcBef>
              <a:spcAft>
                <a:spcPts val="600"/>
              </a:spcAft>
              <a:buFont typeface="Arial" panose="020B0604020202020204" pitchFamily="34" charset="0"/>
              <a:buChar char="•"/>
            </a:pPr>
            <a:r>
              <a:rPr lang="en-US" b="1" i="0" dirty="0">
                <a:solidFill>
                  <a:srgbClr val="ECECEC"/>
                </a:solidFill>
                <a:effectLst/>
                <a:latin typeface="Google Sans"/>
              </a:rPr>
              <a:t>Time Management Discipline:</a:t>
            </a:r>
            <a:r>
              <a:rPr lang="en-US" b="0" i="0" dirty="0">
                <a:solidFill>
                  <a:srgbClr val="ECECEC"/>
                </a:solidFill>
                <a:effectLst/>
                <a:latin typeface="Google Sans"/>
              </a:rPr>
              <a:t> Prioritizing tasks, sticking to schedules, and saying "no" to distractions can create more free time for personal interests and activities. </a:t>
            </a:r>
            <a:endParaRPr lang="en-US" b="0" i="0" dirty="0">
              <a:solidFill>
                <a:srgbClr val="A8C7FA"/>
              </a:solidFill>
              <a:effectLst/>
              <a:latin typeface="Google Sans"/>
            </a:endParaRPr>
          </a:p>
          <a:p>
            <a:pPr algn="l" fontAlgn="ctr">
              <a:lnSpc>
                <a:spcPts val="1650"/>
              </a:lnSpc>
              <a:spcBef>
                <a:spcPts val="600"/>
              </a:spcBef>
              <a:spcAft>
                <a:spcPts val="600"/>
              </a:spcAft>
              <a:buFont typeface="Arial" panose="020B0604020202020204" pitchFamily="34" charset="0"/>
              <a:buChar char="•"/>
            </a:pPr>
            <a:r>
              <a:rPr lang="en-US" b="1" i="0" dirty="0">
                <a:solidFill>
                  <a:srgbClr val="ECECEC"/>
                </a:solidFill>
                <a:effectLst/>
                <a:latin typeface="Google Sans"/>
              </a:rPr>
              <a:t>Health Discipline:</a:t>
            </a:r>
            <a:r>
              <a:rPr lang="en-US" b="0" i="0" dirty="0">
                <a:solidFill>
                  <a:srgbClr val="ECECEC"/>
                </a:solidFill>
                <a:effectLst/>
                <a:latin typeface="Google Sans"/>
              </a:rPr>
              <a:t> Adhering to a healthy diet, exercising regularly, and practicing good sleep hygiene can lead to better physical health and freedom from chronic illnesses. </a:t>
            </a:r>
            <a:endParaRPr lang="en-US" b="0" i="0" dirty="0">
              <a:solidFill>
                <a:srgbClr val="A8C7FA"/>
              </a:solidFill>
              <a:effectLst/>
              <a:latin typeface="Google Sans"/>
            </a:endParaRPr>
          </a:p>
          <a:p>
            <a:pPr algn="l">
              <a:lnSpc>
                <a:spcPts val="1650"/>
              </a:lnSpc>
              <a:spcBef>
                <a:spcPts val="600"/>
              </a:spcBef>
              <a:spcAft>
                <a:spcPts val="1500"/>
              </a:spcAft>
              <a:buFont typeface="Arial" panose="020B0604020202020204" pitchFamily="34" charset="0"/>
              <a:buChar char="•"/>
            </a:pPr>
            <a:r>
              <a:rPr lang="en-US" b="1" i="0" dirty="0">
                <a:solidFill>
                  <a:srgbClr val="ECECEC"/>
                </a:solidFill>
                <a:effectLst/>
                <a:latin typeface="Google Sans"/>
              </a:rPr>
              <a:t>Mental Discipline:</a:t>
            </a:r>
            <a:r>
              <a:rPr lang="en-US" b="0" i="0" dirty="0">
                <a:solidFill>
                  <a:srgbClr val="ECECEC"/>
                </a:solidFill>
                <a:effectLst/>
                <a:latin typeface="Google Sans"/>
              </a:rPr>
              <a:t> Practicing mindfulness, overcoming negative thought patterns, and cultivating positive habits can lead to greater mental well-being and freedom from anxiety and stress. </a:t>
            </a:r>
          </a:p>
          <a:p>
            <a:endParaRPr lang="en-US" dirty="0"/>
          </a:p>
        </p:txBody>
      </p:sp>
      <p:sp>
        <p:nvSpPr>
          <p:cNvPr id="4" name="Slide Number Placeholder 3"/>
          <p:cNvSpPr>
            <a:spLocks noGrp="1"/>
          </p:cNvSpPr>
          <p:nvPr>
            <p:ph type="sldNum" sz="quarter" idx="5"/>
          </p:nvPr>
        </p:nvSpPr>
        <p:spPr/>
        <p:txBody>
          <a:bodyPr/>
          <a:lstStyle/>
          <a:p>
            <a:fld id="{2EE05FB6-82B6-D646-B490-6FC2C56731CB}" type="slidenum">
              <a:rPr lang="en-US" smtClean="0"/>
              <a:t>2</a:t>
            </a:fld>
            <a:endParaRPr lang="en-US"/>
          </a:p>
        </p:txBody>
      </p:sp>
    </p:spTree>
    <p:extLst>
      <p:ext uri="{BB962C8B-B14F-4D97-AF65-F5344CB8AC3E}">
        <p14:creationId xmlns:p14="http://schemas.microsoft.com/office/powerpoint/2010/main" val="273164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Talking Points:</a:t>
            </a:r>
          </a:p>
          <a:p>
            <a:pPr>
              <a:buFont typeface="Arial" panose="020B0604020202020204" pitchFamily="34" charset="0"/>
              <a:buChar char="•"/>
            </a:pPr>
            <a:r>
              <a:rPr lang="en-US" b="1" dirty="0"/>
              <a:t>Movement creates physical, emotional, and mental change.</a:t>
            </a:r>
            <a:endParaRPr lang="en-US" dirty="0"/>
          </a:p>
          <a:p>
            <a:pPr>
              <a:buFont typeface="Arial" panose="020B0604020202020204" pitchFamily="34" charset="0"/>
              <a:buChar char="•"/>
            </a:pPr>
            <a:r>
              <a:rPr lang="en-US" dirty="0"/>
              <a:t>Stagnation leads to decay; movement promotes growth and healing.</a:t>
            </a:r>
          </a:p>
          <a:p>
            <a:pPr>
              <a:buFont typeface="Arial" panose="020B0604020202020204" pitchFamily="34" charset="0"/>
              <a:buChar char="•"/>
            </a:pPr>
            <a:r>
              <a:rPr lang="en-US" b="1" dirty="0"/>
              <a:t>Energy follows action.</a:t>
            </a:r>
            <a:endParaRPr lang="en-US" dirty="0"/>
          </a:p>
          <a:p>
            <a:pPr>
              <a:buFont typeface="Arial" panose="020B0604020202020204" pitchFamily="34" charset="0"/>
              <a:buChar char="•"/>
            </a:pPr>
            <a:r>
              <a:rPr lang="en-US" dirty="0"/>
              <a:t>Even when you’re tired or stressed, purposeful movement boosts energy and mood.</a:t>
            </a:r>
          </a:p>
          <a:p>
            <a:pPr>
              <a:buFont typeface="Arial" panose="020B0604020202020204" pitchFamily="34" charset="0"/>
              <a:buChar char="•"/>
            </a:pPr>
            <a:r>
              <a:rPr lang="en-US" b="1" dirty="0"/>
              <a:t>Mind and body are linked.</a:t>
            </a:r>
            <a:endParaRPr lang="en-US" dirty="0"/>
          </a:p>
          <a:p>
            <a:pPr>
              <a:buFont typeface="Arial" panose="020B0604020202020204" pitchFamily="34" charset="0"/>
              <a:buChar char="•"/>
            </a:pPr>
            <a:r>
              <a:rPr lang="en-US" dirty="0"/>
              <a:t>Movement breaks mental patterns and helps shift your mindset.</a:t>
            </a:r>
          </a:p>
          <a:p>
            <a:pPr>
              <a:buFont typeface="Arial" panose="020B0604020202020204" pitchFamily="34" charset="0"/>
              <a:buChar char="•"/>
            </a:pPr>
            <a:r>
              <a:rPr lang="en-US" b="1" dirty="0"/>
              <a:t>Simple or complex—it all counts.</a:t>
            </a:r>
            <a:endParaRPr lang="en-US" dirty="0"/>
          </a:p>
          <a:p>
            <a:pPr>
              <a:buFont typeface="Arial" panose="020B0604020202020204" pitchFamily="34" charset="0"/>
              <a:buChar char="•"/>
            </a:pPr>
            <a:r>
              <a:rPr lang="en-US" dirty="0"/>
              <a:t>From walking to martial arts, any daily movement improves long-term health.</a:t>
            </a:r>
          </a:p>
          <a:p>
            <a:pPr>
              <a:buFont typeface="Arial" panose="020B0604020202020204" pitchFamily="34" charset="0"/>
              <a:buChar char="•"/>
            </a:pPr>
            <a:r>
              <a:rPr lang="en-US" b="1" dirty="0"/>
              <a:t>Movement aids recovery.</a:t>
            </a:r>
            <a:endParaRPr lang="en-US" dirty="0"/>
          </a:p>
          <a:p>
            <a:pPr>
              <a:buFont typeface="Arial" panose="020B0604020202020204" pitchFamily="34" charset="0"/>
              <a:buChar char="•"/>
            </a:pPr>
            <a:r>
              <a:rPr lang="en-US" dirty="0"/>
              <a:t>Gentle, intentional movement can reduce illness duration and accelerate healing.</a:t>
            </a:r>
          </a:p>
          <a:p>
            <a:pPr>
              <a:buFont typeface="Arial" panose="020B0604020202020204" pitchFamily="34" charset="0"/>
              <a:buChar char="•"/>
            </a:pPr>
            <a:r>
              <a:rPr lang="en-US" b="1" dirty="0"/>
              <a:t>Move with purpose, every day.</a:t>
            </a:r>
            <a:endParaRPr lang="en-US" dirty="0"/>
          </a:p>
          <a:p>
            <a:pPr>
              <a:buFont typeface="Arial" panose="020B0604020202020204" pitchFamily="34" charset="0"/>
              <a:buChar char="•"/>
            </a:pPr>
            <a:r>
              <a:rPr lang="en-US" dirty="0"/>
              <a:t>It’s a lifelong prescription for strength, clarity, and resilience.</a:t>
            </a:r>
          </a:p>
          <a:p>
            <a:endParaRPr lang="en-US" dirty="0"/>
          </a:p>
        </p:txBody>
      </p:sp>
      <p:sp>
        <p:nvSpPr>
          <p:cNvPr id="4" name="Slide Number Placeholder 3"/>
          <p:cNvSpPr>
            <a:spLocks noGrp="1"/>
          </p:cNvSpPr>
          <p:nvPr>
            <p:ph type="sldNum" sz="quarter" idx="5"/>
          </p:nvPr>
        </p:nvSpPr>
        <p:spPr/>
        <p:txBody>
          <a:bodyPr/>
          <a:lstStyle/>
          <a:p>
            <a:fld id="{2EE05FB6-82B6-D646-B490-6FC2C56731CB}" type="slidenum">
              <a:rPr lang="en-US" smtClean="0"/>
              <a:t>3</a:t>
            </a:fld>
            <a:endParaRPr lang="en-US"/>
          </a:p>
        </p:txBody>
      </p:sp>
    </p:spTree>
    <p:extLst>
      <p:ext uri="{BB962C8B-B14F-4D97-AF65-F5344CB8AC3E}">
        <p14:creationId xmlns:p14="http://schemas.microsoft.com/office/powerpoint/2010/main" val="1189123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Motivation:</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Motivation is the initial spark, the enthusiasm or desire that pushes you to start something. It can be a feeling of excitement, a need to achieve something, or the pressure to meet a deadline. </a:t>
            </a:r>
            <a:endParaRPr lang="en-US" b="0" i="0" dirty="0">
              <a:solidFill>
                <a:srgbClr val="A8C7FA"/>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Discipline:</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Discipline is the consistent effort and focus that keeps you going, even when you don't feel motivated. It's about sticking to your plan, resisting temptations, and making the necessary sacrifices to reach your goals. </a:t>
            </a:r>
            <a:endParaRPr lang="en-US" b="0" i="0" dirty="0">
              <a:solidFill>
                <a:srgbClr val="A8C7FA"/>
              </a:solidFill>
              <a:effectLst/>
              <a:latin typeface="Google Sans"/>
            </a:endParaRPr>
          </a:p>
          <a:p>
            <a:pPr algn="l">
              <a:lnSpc>
                <a:spcPts val="1650"/>
              </a:lnSpc>
              <a:spcBef>
                <a:spcPts val="750"/>
              </a:spcBef>
              <a:spcAft>
                <a:spcPts val="1500"/>
              </a:spcAft>
              <a:buFont typeface="Arial" panose="020B0604020202020204" pitchFamily="34" charset="0"/>
              <a:buChar char="•"/>
            </a:pPr>
            <a:r>
              <a:rPr lang="en-US" b="1" i="0" dirty="0">
                <a:solidFill>
                  <a:srgbClr val="EEF0FF"/>
                </a:solidFill>
                <a:effectLst/>
                <a:latin typeface="Google Sans"/>
              </a:rPr>
              <a:t>Growth:</a:t>
            </a:r>
            <a:endParaRPr lang="en-US" b="0" i="0" dirty="0">
              <a:solidFill>
                <a:srgbClr val="EEF0FF"/>
              </a:solidFill>
              <a:effectLst/>
              <a:latin typeface="Google Sans"/>
            </a:endParaRPr>
          </a:p>
          <a:p>
            <a:pPr algn="l" fontAlgn="ctr">
              <a:lnSpc>
                <a:spcPts val="1650"/>
              </a:lnSpc>
              <a:spcBef>
                <a:spcPts val="750"/>
              </a:spcBef>
              <a:spcAft>
                <a:spcPts val="1500"/>
              </a:spcAft>
              <a:buFont typeface="Arial" panose="020B0604020202020204" pitchFamily="34" charset="0"/>
              <a:buChar char="•"/>
            </a:pPr>
            <a:r>
              <a:rPr lang="en-US" b="0" i="0" dirty="0">
                <a:solidFill>
                  <a:srgbClr val="C3C6D6"/>
                </a:solidFill>
                <a:effectLst/>
                <a:latin typeface="Google Sans"/>
              </a:rPr>
              <a:t>The quote highlights that discipline is crucial for sustained growth. Without consistent effort and self-control, even the most motivated efforts may not lead to lasting progress. </a:t>
            </a:r>
            <a:endParaRPr lang="en-US" b="0" i="0" dirty="0">
              <a:solidFill>
                <a:srgbClr val="A8C7FA"/>
              </a:solidFill>
              <a:effectLst/>
              <a:latin typeface="Google Sans"/>
            </a:endParaRPr>
          </a:p>
          <a:p>
            <a:pPr algn="l"/>
            <a:br>
              <a:rPr lang="en-US" b="0" i="0" dirty="0">
                <a:solidFill>
                  <a:srgbClr val="EEF0FF"/>
                </a:solidFill>
                <a:effectLst/>
                <a:latin typeface="Google Sans"/>
              </a:rPr>
            </a:br>
            <a:endParaRPr lang="en-US" b="0" i="0" dirty="0">
              <a:solidFill>
                <a:srgbClr val="EEF0FF"/>
              </a:solidFill>
              <a:effectLst/>
              <a:latin typeface="Google Sans"/>
            </a:endParaRPr>
          </a:p>
          <a:p>
            <a:endParaRPr lang="en-US" dirty="0"/>
          </a:p>
        </p:txBody>
      </p:sp>
      <p:sp>
        <p:nvSpPr>
          <p:cNvPr id="4" name="Slide Number Placeholder 3"/>
          <p:cNvSpPr>
            <a:spLocks noGrp="1"/>
          </p:cNvSpPr>
          <p:nvPr>
            <p:ph type="sldNum" sz="quarter" idx="5"/>
          </p:nvPr>
        </p:nvSpPr>
        <p:spPr/>
        <p:txBody>
          <a:bodyPr/>
          <a:lstStyle/>
          <a:p>
            <a:fld id="{2EE05FB6-82B6-D646-B490-6FC2C56731CB}" type="slidenum">
              <a:rPr lang="en-US" smtClean="0"/>
              <a:t>4</a:t>
            </a:fld>
            <a:endParaRPr lang="en-US"/>
          </a:p>
        </p:txBody>
      </p:sp>
    </p:spTree>
    <p:extLst>
      <p:ext uri="{BB962C8B-B14F-4D97-AF65-F5344CB8AC3E}">
        <p14:creationId xmlns:p14="http://schemas.microsoft.com/office/powerpoint/2010/main" val="962466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3000"/>
              </a:spcBef>
              <a:buNone/>
            </a:pPr>
            <a:r>
              <a:rPr lang="en-US" b="1" i="0" u="sng" dirty="0">
                <a:solidFill>
                  <a:srgbClr val="2F7F93"/>
                </a:solidFill>
                <a:effectLst/>
                <a:latin typeface="adelle-sans"/>
                <a:hlinkClick r:id="rId3" tooltip="Physical activity and mental health"/>
              </a:rPr>
              <a:t>Physical activity has a huge potential to enhance our well-being</a:t>
            </a:r>
            <a:r>
              <a:rPr lang="en-US" b="0" i="0" dirty="0">
                <a:solidFill>
                  <a:srgbClr val="1F1F1F"/>
                </a:solidFill>
                <a:effectLst/>
                <a:latin typeface="adelle-sans"/>
              </a:rPr>
              <a:t>. Even a short burst of 10 minutes of brisk walking increases our mental alertness, energy and positive mood.</a:t>
            </a:r>
          </a:p>
          <a:p>
            <a:pPr algn="l">
              <a:spcBef>
                <a:spcPts val="3000"/>
              </a:spcBef>
            </a:pPr>
            <a:r>
              <a:rPr lang="en-US" b="0" i="0" dirty="0">
                <a:solidFill>
                  <a:srgbClr val="1F1F1F"/>
                </a:solidFill>
                <a:effectLst/>
                <a:latin typeface="adelle-sans"/>
              </a:rPr>
              <a:t>Participation in regular physical activity can increase our self-esteem and can reduce </a:t>
            </a:r>
            <a:r>
              <a:rPr lang="en-US" b="1" i="0" u="sng" dirty="0">
                <a:solidFill>
                  <a:srgbClr val="2F7F93"/>
                </a:solidFill>
                <a:effectLst/>
                <a:latin typeface="adelle-sans"/>
                <a:hlinkClick r:id="rId4" tooltip="Stress and mental health"/>
              </a:rPr>
              <a:t>stress</a:t>
            </a:r>
            <a:r>
              <a:rPr lang="en-US" b="0" i="0" dirty="0">
                <a:solidFill>
                  <a:srgbClr val="1F1F1F"/>
                </a:solidFill>
                <a:effectLst/>
                <a:latin typeface="adelle-sans"/>
              </a:rPr>
              <a:t> and </a:t>
            </a:r>
            <a:r>
              <a:rPr lang="en-US" b="1" i="0" u="sng" dirty="0">
                <a:solidFill>
                  <a:srgbClr val="2F7F93"/>
                </a:solidFill>
                <a:effectLst/>
                <a:latin typeface="adelle-sans"/>
                <a:hlinkClick r:id="rId5" tooltip="Anxiety"/>
              </a:rPr>
              <a:t>anxiety</a:t>
            </a:r>
            <a:r>
              <a:rPr lang="en-US" b="0" i="0" dirty="0">
                <a:solidFill>
                  <a:srgbClr val="1F1F1F"/>
                </a:solidFill>
                <a:effectLst/>
                <a:latin typeface="adelle-sans"/>
              </a:rPr>
              <a:t>. It also plays a role in preventing the development of mental health problems and in improving the quality of life of people experiencing mental health problems.</a:t>
            </a:r>
          </a:p>
          <a:p>
            <a:endParaRPr lang="en-US" dirty="0"/>
          </a:p>
          <a:p>
            <a:r>
              <a:rPr lang="en-US" dirty="0" err="1"/>
              <a:t>Mentalhealth.org</a:t>
            </a:r>
            <a:endParaRPr lang="en-US" dirty="0"/>
          </a:p>
        </p:txBody>
      </p:sp>
      <p:sp>
        <p:nvSpPr>
          <p:cNvPr id="4" name="Slide Number Placeholder 3"/>
          <p:cNvSpPr>
            <a:spLocks noGrp="1"/>
          </p:cNvSpPr>
          <p:nvPr>
            <p:ph type="sldNum" sz="quarter" idx="5"/>
          </p:nvPr>
        </p:nvSpPr>
        <p:spPr/>
        <p:txBody>
          <a:bodyPr/>
          <a:lstStyle/>
          <a:p>
            <a:fld id="{2EE05FB6-82B6-D646-B490-6FC2C56731CB}" type="slidenum">
              <a:rPr lang="en-US" smtClean="0"/>
              <a:t>6</a:t>
            </a:fld>
            <a:endParaRPr lang="en-US"/>
          </a:p>
        </p:txBody>
      </p:sp>
    </p:spTree>
    <p:extLst>
      <p:ext uri="{BB962C8B-B14F-4D97-AF65-F5344CB8AC3E}">
        <p14:creationId xmlns:p14="http://schemas.microsoft.com/office/powerpoint/2010/main" val="2120316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spcAft>
                <a:spcPts val="1500"/>
              </a:spcAft>
              <a:buNone/>
            </a:pPr>
            <a:r>
              <a:rPr lang="en-US" b="0" i="0" dirty="0">
                <a:solidFill>
                  <a:srgbClr val="EEF0FF"/>
                </a:solidFill>
                <a:effectLst/>
                <a:latin typeface="Google Sans"/>
              </a:rPr>
              <a:t>The statement "Discipline is like a muscle — the more you train it, the stronger it gets" emphasizes the concept of self-discipline as a skill that can be cultivated and improved through consistent practice. Similar to physical muscles, the more you actively engage in disciplined behavior, the more resilient and effective your self-control becomes. </a:t>
            </a:r>
            <a:endParaRPr lang="en-US" b="0" i="0" dirty="0">
              <a:solidFill>
                <a:srgbClr val="A8C7FA"/>
              </a:solidFill>
              <a:effectLst/>
              <a:latin typeface="Google Sans"/>
            </a:endParaRPr>
          </a:p>
          <a:p>
            <a:pPr algn="l">
              <a:lnSpc>
                <a:spcPts val="1950"/>
              </a:lnSpc>
              <a:spcBef>
                <a:spcPts val="1500"/>
              </a:spcBef>
              <a:spcAft>
                <a:spcPts val="750"/>
              </a:spcAft>
              <a:buNone/>
            </a:pPr>
            <a:r>
              <a:rPr lang="en-US" b="0" i="0" dirty="0">
                <a:solidFill>
                  <a:srgbClr val="EEF0FF"/>
                </a:solidFill>
                <a:effectLst/>
                <a:latin typeface="Google Sans"/>
              </a:rPr>
              <a:t>Here's a more detailed breakdown:</a:t>
            </a:r>
          </a:p>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Metaphor:</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The analogy of a muscle helps to visualize how discipline can be developed and strengthened through repeated effort. </a:t>
            </a:r>
            <a:endParaRPr lang="en-US" b="0" i="0" dirty="0">
              <a:solidFill>
                <a:srgbClr val="A8C7FA"/>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Training:</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Just like you train a muscle with exercise, you train discipline by consistently setting and achieving goals, making small changes, and resisting temptations, </a:t>
            </a:r>
            <a:r>
              <a:rPr lang="en-US" b="0" i="0" dirty="0">
                <a:solidFill>
                  <a:srgbClr val="A8C7FA"/>
                </a:solidFill>
                <a:effectLst/>
                <a:latin typeface="Google Sans"/>
                <a:hlinkClick r:id="rId3"/>
              </a:rPr>
              <a:t>according to a post on LinkedIn</a:t>
            </a:r>
            <a:r>
              <a:rPr lang="en-US" b="0" i="0" dirty="0">
                <a:solidFill>
                  <a:srgbClr val="C3C6D6"/>
                </a:solidFill>
                <a:effectLst/>
                <a:latin typeface="Google Sans"/>
              </a:rPr>
              <a:t>. </a:t>
            </a:r>
            <a:endParaRPr lang="en-US" b="0" i="0" dirty="0">
              <a:solidFill>
                <a:srgbClr val="A8C7FA"/>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Growth:</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The more you practice discipline, the more effortlessly you will be able to manage your thoughts, emotions, and actions, </a:t>
            </a:r>
            <a:r>
              <a:rPr lang="en-US" b="0" i="0" dirty="0">
                <a:solidFill>
                  <a:srgbClr val="A8C7FA"/>
                </a:solidFill>
                <a:effectLst/>
                <a:latin typeface="Google Sans"/>
                <a:hlinkClick r:id="rId4"/>
              </a:rPr>
              <a:t>says the American Psychological Association (APA)</a:t>
            </a:r>
            <a:r>
              <a:rPr lang="en-US" b="0" i="0" dirty="0">
                <a:solidFill>
                  <a:srgbClr val="C3C6D6"/>
                </a:solidFill>
                <a:effectLst/>
                <a:latin typeface="Google Sans"/>
              </a:rPr>
              <a:t>. </a:t>
            </a:r>
            <a:endParaRPr lang="en-US" b="0" i="0" dirty="0">
              <a:solidFill>
                <a:srgbClr val="A8C7FA"/>
              </a:solidFill>
              <a:effectLst/>
              <a:latin typeface="Google Sans"/>
            </a:endParaRPr>
          </a:p>
          <a:p>
            <a:pPr algn="l">
              <a:lnSpc>
                <a:spcPts val="1650"/>
              </a:lnSpc>
              <a:spcBef>
                <a:spcPts val="750"/>
              </a:spcBef>
              <a:spcAft>
                <a:spcPts val="1500"/>
              </a:spcAft>
              <a:buFont typeface="Arial" panose="020B0604020202020204" pitchFamily="34" charset="0"/>
              <a:buChar char="•"/>
            </a:pPr>
            <a:r>
              <a:rPr lang="en-US" b="1" i="0" dirty="0">
                <a:solidFill>
                  <a:srgbClr val="EEF0FF"/>
                </a:solidFill>
                <a:effectLst/>
                <a:latin typeface="Google Sans"/>
              </a:rPr>
              <a:t>Benefits:</a:t>
            </a:r>
            <a:endParaRPr lang="en-US" b="0" i="0" dirty="0">
              <a:solidFill>
                <a:srgbClr val="EEF0FF"/>
              </a:solidFill>
              <a:effectLst/>
              <a:latin typeface="Google Sans"/>
            </a:endParaRPr>
          </a:p>
          <a:p>
            <a:pPr algn="l">
              <a:lnSpc>
                <a:spcPts val="1650"/>
              </a:lnSpc>
              <a:spcBef>
                <a:spcPts val="750"/>
              </a:spcBef>
              <a:spcAft>
                <a:spcPts val="1500"/>
              </a:spcAft>
              <a:buFont typeface="Arial" panose="020B0604020202020204" pitchFamily="34" charset="0"/>
              <a:buChar char="•"/>
            </a:pPr>
            <a:r>
              <a:rPr lang="en-US" b="0" i="0" dirty="0">
                <a:solidFill>
                  <a:srgbClr val="C3C6D6"/>
                </a:solidFill>
                <a:effectLst/>
                <a:latin typeface="Google Sans"/>
              </a:rPr>
              <a:t>A stronger sense of self-discipline leads to increased productivity, better goal achievement, and a greater sense of control over your life, according to a post on Reddit. </a:t>
            </a:r>
          </a:p>
          <a:p>
            <a:endParaRPr lang="en-US" dirty="0"/>
          </a:p>
        </p:txBody>
      </p:sp>
      <p:sp>
        <p:nvSpPr>
          <p:cNvPr id="4" name="Slide Number Placeholder 3"/>
          <p:cNvSpPr>
            <a:spLocks noGrp="1"/>
          </p:cNvSpPr>
          <p:nvPr>
            <p:ph type="sldNum" sz="quarter" idx="5"/>
          </p:nvPr>
        </p:nvSpPr>
        <p:spPr/>
        <p:txBody>
          <a:bodyPr/>
          <a:lstStyle/>
          <a:p>
            <a:fld id="{2EE05FB6-82B6-D646-B490-6FC2C56731CB}" type="slidenum">
              <a:rPr lang="en-US" smtClean="0"/>
              <a:t>7</a:t>
            </a:fld>
            <a:endParaRPr lang="en-US"/>
          </a:p>
        </p:txBody>
      </p:sp>
    </p:spTree>
    <p:extLst>
      <p:ext uri="{BB962C8B-B14F-4D97-AF65-F5344CB8AC3E}">
        <p14:creationId xmlns:p14="http://schemas.microsoft.com/office/powerpoint/2010/main" val="1780938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4/29/25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4/29/25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4/29/25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4/29/25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22C81-933A-D2C1-830B-4373715DF909}"/>
              </a:ext>
            </a:extLst>
          </p:cNvPr>
          <p:cNvSpPr>
            <a:spLocks noGrp="1"/>
          </p:cNvSpPr>
          <p:nvPr>
            <p:ph type="ctrTitle"/>
          </p:nvPr>
        </p:nvSpPr>
        <p:spPr/>
        <p:txBody>
          <a:bodyPr/>
          <a:lstStyle/>
          <a:p>
            <a:r>
              <a:rPr lang="en-US" b="1" dirty="0"/>
              <a:t>“Move to Improve: Discipline &amp; Freedom Workshop”</a:t>
            </a:r>
            <a:br>
              <a:rPr lang="en-US" dirty="0"/>
            </a:br>
            <a:endParaRPr lang="en-US" dirty="0"/>
          </a:p>
        </p:txBody>
      </p:sp>
      <p:sp>
        <p:nvSpPr>
          <p:cNvPr id="3" name="Subtitle 2">
            <a:extLst>
              <a:ext uri="{FF2B5EF4-FFF2-40B4-BE49-F238E27FC236}">
                <a16:creationId xmlns:a16="http://schemas.microsoft.com/office/drawing/2014/main" id="{32A14066-01A0-D2D5-951D-55507BDB6873}"/>
              </a:ext>
            </a:extLst>
          </p:cNvPr>
          <p:cNvSpPr>
            <a:spLocks noGrp="1"/>
          </p:cNvSpPr>
          <p:nvPr>
            <p:ph type="subTitle" idx="1"/>
          </p:nvPr>
        </p:nvSpPr>
        <p:spPr>
          <a:xfrm>
            <a:off x="810000" y="5408853"/>
            <a:ext cx="10572000" cy="434974"/>
          </a:xfrm>
        </p:spPr>
        <p:txBody>
          <a:bodyPr/>
          <a:lstStyle/>
          <a:p>
            <a:r>
              <a:rPr lang="en-US" dirty="0"/>
              <a:t>Keith McHugh </a:t>
            </a:r>
          </a:p>
        </p:txBody>
      </p:sp>
    </p:spTree>
    <p:extLst>
      <p:ext uri="{BB962C8B-B14F-4D97-AF65-F5344CB8AC3E}">
        <p14:creationId xmlns:p14="http://schemas.microsoft.com/office/powerpoint/2010/main" val="1906471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8918-9A92-C429-DAB7-ADD150B18277}"/>
              </a:ext>
            </a:extLst>
          </p:cNvPr>
          <p:cNvSpPr>
            <a:spLocks noGrp="1"/>
          </p:cNvSpPr>
          <p:nvPr>
            <p:ph type="title"/>
          </p:nvPr>
        </p:nvSpPr>
        <p:spPr>
          <a:xfrm>
            <a:off x="853190" y="1701079"/>
            <a:ext cx="5893840" cy="1624690"/>
          </a:xfrm>
        </p:spPr>
        <p:txBody>
          <a:bodyPr/>
          <a:lstStyle/>
          <a:p>
            <a:r>
              <a:rPr lang="en-US" i="1" dirty="0"/>
              <a:t>“Discipline equals freedom.”</a:t>
            </a:r>
            <a:endParaRPr lang="en-US" dirty="0"/>
          </a:p>
        </p:txBody>
      </p:sp>
      <p:sp>
        <p:nvSpPr>
          <p:cNvPr id="3" name="Text Placeholder 2">
            <a:extLst>
              <a:ext uri="{FF2B5EF4-FFF2-40B4-BE49-F238E27FC236}">
                <a16:creationId xmlns:a16="http://schemas.microsoft.com/office/drawing/2014/main" id="{F964374F-FF78-B2A3-1CE0-09D3EEE84938}"/>
              </a:ext>
            </a:extLst>
          </p:cNvPr>
          <p:cNvSpPr>
            <a:spLocks noGrp="1"/>
          </p:cNvSpPr>
          <p:nvPr>
            <p:ph type="body" idx="1"/>
          </p:nvPr>
        </p:nvSpPr>
        <p:spPr/>
        <p:txBody>
          <a:bodyPr/>
          <a:lstStyle/>
          <a:p>
            <a:r>
              <a:rPr lang="en-US" dirty="0"/>
              <a:t>-Jocko Willink</a:t>
            </a:r>
          </a:p>
        </p:txBody>
      </p:sp>
      <p:pic>
        <p:nvPicPr>
          <p:cNvPr id="6" name="Picture 5" descr="A black background with white text&#10;&#10;AI-generated content may be incorrect.">
            <a:extLst>
              <a:ext uri="{FF2B5EF4-FFF2-40B4-BE49-F238E27FC236}">
                <a16:creationId xmlns:a16="http://schemas.microsoft.com/office/drawing/2014/main" id="{C96C4E8D-E6E9-6F13-304F-534D971476CE}"/>
              </a:ext>
            </a:extLst>
          </p:cNvPr>
          <p:cNvPicPr>
            <a:picLocks noChangeAspect="1"/>
          </p:cNvPicPr>
          <p:nvPr/>
        </p:nvPicPr>
        <p:blipFill>
          <a:blip r:embed="rId3"/>
          <a:stretch>
            <a:fillRect/>
          </a:stretch>
        </p:blipFill>
        <p:spPr>
          <a:xfrm>
            <a:off x="7454377" y="1246497"/>
            <a:ext cx="3884433" cy="2514342"/>
          </a:xfrm>
          <a:prstGeom prst="rect">
            <a:avLst/>
          </a:prstGeom>
        </p:spPr>
      </p:pic>
    </p:spTree>
    <p:extLst>
      <p:ext uri="{BB962C8B-B14F-4D97-AF65-F5344CB8AC3E}">
        <p14:creationId xmlns:p14="http://schemas.microsoft.com/office/powerpoint/2010/main" val="395596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12191-01AC-1EFA-4EFB-F46AA1EC5555}"/>
              </a:ext>
            </a:extLst>
          </p:cNvPr>
          <p:cNvSpPr>
            <a:spLocks noGrp="1"/>
          </p:cNvSpPr>
          <p:nvPr>
            <p:ph type="title"/>
          </p:nvPr>
        </p:nvSpPr>
        <p:spPr/>
        <p:txBody>
          <a:bodyPr/>
          <a:lstStyle/>
          <a:p>
            <a:r>
              <a:rPr lang="en-US" sz="2400" i="1" dirty="0"/>
              <a:t>“Movement is medicine for creating change in a person’s physical, emotional, and mental states.”</a:t>
            </a:r>
            <a:br>
              <a:rPr lang="en-US" sz="2400" dirty="0"/>
            </a:br>
            <a:r>
              <a:rPr lang="en-US" sz="2400" dirty="0"/>
              <a:t>— Carol Welch</a:t>
            </a:r>
            <a:br>
              <a:rPr lang="en-US" dirty="0"/>
            </a:br>
            <a:endParaRPr lang="en-US" dirty="0"/>
          </a:p>
        </p:txBody>
      </p:sp>
      <p:sp>
        <p:nvSpPr>
          <p:cNvPr id="3" name="Text Placeholder 2">
            <a:extLst>
              <a:ext uri="{FF2B5EF4-FFF2-40B4-BE49-F238E27FC236}">
                <a16:creationId xmlns:a16="http://schemas.microsoft.com/office/drawing/2014/main" id="{22B913D2-856C-E88B-288C-CD3CBF158D11}"/>
              </a:ext>
            </a:extLst>
          </p:cNvPr>
          <p:cNvSpPr>
            <a:spLocks noGrp="1"/>
          </p:cNvSpPr>
          <p:nvPr>
            <p:ph type="body" idx="1"/>
          </p:nvPr>
        </p:nvSpPr>
        <p:spPr/>
        <p:txBody>
          <a:bodyPr/>
          <a:lstStyle/>
          <a:p>
            <a:endParaRPr lang="en-US" dirty="0"/>
          </a:p>
          <a:p>
            <a:endParaRPr lang="en-US" dirty="0"/>
          </a:p>
        </p:txBody>
      </p:sp>
      <p:sp>
        <p:nvSpPr>
          <p:cNvPr id="5" name="TextBox 4">
            <a:extLst>
              <a:ext uri="{FF2B5EF4-FFF2-40B4-BE49-F238E27FC236}">
                <a16:creationId xmlns:a16="http://schemas.microsoft.com/office/drawing/2014/main" id="{D952DA3E-14BE-DC5D-0789-72A75AF0F59B}"/>
              </a:ext>
            </a:extLst>
          </p:cNvPr>
          <p:cNvSpPr txBox="1"/>
          <p:nvPr/>
        </p:nvSpPr>
        <p:spPr>
          <a:xfrm>
            <a:off x="807357" y="4510590"/>
            <a:ext cx="2731838" cy="646331"/>
          </a:xfrm>
          <a:prstGeom prst="rect">
            <a:avLst/>
          </a:prstGeom>
          <a:noFill/>
        </p:spPr>
        <p:txBody>
          <a:bodyPr wrap="none" rtlCol="0">
            <a:spAutoFit/>
          </a:bodyPr>
          <a:lstStyle/>
          <a:p>
            <a:r>
              <a:rPr lang="en-US" dirty="0"/>
              <a:t>Movement is Medicine</a:t>
            </a:r>
          </a:p>
          <a:p>
            <a:endParaRPr lang="en-US" dirty="0"/>
          </a:p>
        </p:txBody>
      </p:sp>
      <p:pic>
        <p:nvPicPr>
          <p:cNvPr id="7" name="Picture 6" descr="A diagram of a health system&#10;&#10;AI-generated content may be incorrect.">
            <a:extLst>
              <a:ext uri="{FF2B5EF4-FFF2-40B4-BE49-F238E27FC236}">
                <a16:creationId xmlns:a16="http://schemas.microsoft.com/office/drawing/2014/main" id="{C1F4B020-B4CA-7164-5F0D-1AA90F236199}"/>
              </a:ext>
            </a:extLst>
          </p:cNvPr>
          <p:cNvPicPr>
            <a:picLocks noChangeAspect="1"/>
          </p:cNvPicPr>
          <p:nvPr/>
        </p:nvPicPr>
        <p:blipFill>
          <a:blip r:embed="rId3"/>
          <a:stretch>
            <a:fillRect/>
          </a:stretch>
        </p:blipFill>
        <p:spPr>
          <a:xfrm>
            <a:off x="7285703" y="690965"/>
            <a:ext cx="4348107" cy="4968085"/>
          </a:xfrm>
          <a:prstGeom prst="rect">
            <a:avLst/>
          </a:prstGeom>
        </p:spPr>
      </p:pic>
    </p:spTree>
    <p:extLst>
      <p:ext uri="{BB962C8B-B14F-4D97-AF65-F5344CB8AC3E}">
        <p14:creationId xmlns:p14="http://schemas.microsoft.com/office/powerpoint/2010/main" val="185681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646D-77A3-CEAA-D29F-DBF07C2FCD1D}"/>
              </a:ext>
            </a:extLst>
          </p:cNvPr>
          <p:cNvSpPr>
            <a:spLocks noGrp="1"/>
          </p:cNvSpPr>
          <p:nvPr>
            <p:ph type="title"/>
          </p:nvPr>
        </p:nvSpPr>
        <p:spPr/>
        <p:txBody>
          <a:bodyPr/>
          <a:lstStyle/>
          <a:p>
            <a:r>
              <a:rPr lang="en-US" i="1" dirty="0"/>
              <a:t>“Motivation gets you going. Discipline keeps you growing.”</a:t>
            </a:r>
            <a:br>
              <a:rPr lang="en-US" dirty="0"/>
            </a:br>
            <a:r>
              <a:rPr lang="en-US" dirty="0"/>
              <a:t>— John C. Maxwell</a:t>
            </a:r>
          </a:p>
        </p:txBody>
      </p:sp>
      <p:sp>
        <p:nvSpPr>
          <p:cNvPr id="3" name="Text Placeholder 2">
            <a:extLst>
              <a:ext uri="{FF2B5EF4-FFF2-40B4-BE49-F238E27FC236}">
                <a16:creationId xmlns:a16="http://schemas.microsoft.com/office/drawing/2014/main" id="{0280C902-9A42-41CE-A500-E8FBE9D0A4A3}"/>
              </a:ext>
            </a:extLst>
          </p:cNvPr>
          <p:cNvSpPr>
            <a:spLocks noGrp="1"/>
          </p:cNvSpPr>
          <p:nvPr>
            <p:ph type="body" idx="1"/>
          </p:nvPr>
        </p:nvSpPr>
        <p:spPr/>
        <p:txBody>
          <a:bodyPr/>
          <a:lstStyle/>
          <a:p>
            <a:r>
              <a:rPr lang="en-US" dirty="0"/>
              <a:t>Motivation vs. Discipline</a:t>
            </a:r>
          </a:p>
          <a:p>
            <a:endParaRPr lang="en-US" dirty="0"/>
          </a:p>
        </p:txBody>
      </p:sp>
      <p:pic>
        <p:nvPicPr>
          <p:cNvPr id="6" name="Picture 5" descr="A person wearing boxing gloves&#10;&#10;AI-generated content may be incorrect.">
            <a:extLst>
              <a:ext uri="{FF2B5EF4-FFF2-40B4-BE49-F238E27FC236}">
                <a16:creationId xmlns:a16="http://schemas.microsoft.com/office/drawing/2014/main" id="{6E7D4AB4-08A9-A731-6185-FAA2850A2F22}"/>
              </a:ext>
            </a:extLst>
          </p:cNvPr>
          <p:cNvPicPr>
            <a:picLocks noChangeAspect="1"/>
          </p:cNvPicPr>
          <p:nvPr/>
        </p:nvPicPr>
        <p:blipFill>
          <a:blip r:embed="rId3"/>
          <a:stretch>
            <a:fillRect/>
          </a:stretch>
        </p:blipFill>
        <p:spPr>
          <a:xfrm>
            <a:off x="7610168" y="393481"/>
            <a:ext cx="3728642" cy="5630702"/>
          </a:xfrm>
          <a:prstGeom prst="rect">
            <a:avLst/>
          </a:prstGeom>
        </p:spPr>
      </p:pic>
    </p:spTree>
    <p:extLst>
      <p:ext uri="{BB962C8B-B14F-4D97-AF65-F5344CB8AC3E}">
        <p14:creationId xmlns:p14="http://schemas.microsoft.com/office/powerpoint/2010/main" val="1047782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D8F2-A773-76A4-54D5-99D32D0EB353}"/>
              </a:ext>
            </a:extLst>
          </p:cNvPr>
          <p:cNvSpPr>
            <a:spLocks noGrp="1"/>
          </p:cNvSpPr>
          <p:nvPr>
            <p:ph type="title"/>
          </p:nvPr>
        </p:nvSpPr>
        <p:spPr/>
        <p:txBody>
          <a:bodyPr/>
          <a:lstStyle/>
          <a:p>
            <a:r>
              <a:rPr lang="en-US" dirty="0"/>
              <a:t>Exercise &amp; Mental Health</a:t>
            </a:r>
          </a:p>
        </p:txBody>
      </p:sp>
      <p:pic>
        <p:nvPicPr>
          <p:cNvPr id="3" name="Content Placeholder 6" descr="A diagram of exercise and mental health&#10;&#10;AI-generated content may be incorrect.">
            <a:extLst>
              <a:ext uri="{FF2B5EF4-FFF2-40B4-BE49-F238E27FC236}">
                <a16:creationId xmlns:a16="http://schemas.microsoft.com/office/drawing/2014/main" id="{7DC10C7F-ACAA-637A-28F7-363E98FB85B5}"/>
              </a:ext>
            </a:extLst>
          </p:cNvPr>
          <p:cNvPicPr>
            <a:picLocks noChangeAspect="1"/>
          </p:cNvPicPr>
          <p:nvPr/>
        </p:nvPicPr>
        <p:blipFill>
          <a:blip r:embed="rId2"/>
          <a:stretch>
            <a:fillRect/>
          </a:stretch>
        </p:blipFill>
        <p:spPr bwMode="auto">
          <a:xfrm>
            <a:off x="6376220" y="1926847"/>
            <a:ext cx="5704912" cy="48191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00D000-ADD1-4B69-3844-95FD9AC85AE1}"/>
              </a:ext>
            </a:extLst>
          </p:cNvPr>
          <p:cNvSpPr txBox="1"/>
          <p:nvPr/>
        </p:nvSpPr>
        <p:spPr>
          <a:xfrm>
            <a:off x="309716" y="3429000"/>
            <a:ext cx="4748980" cy="2308324"/>
          </a:xfrm>
          <a:prstGeom prst="rect">
            <a:avLst/>
          </a:prstGeom>
          <a:noFill/>
        </p:spPr>
        <p:txBody>
          <a:bodyPr wrap="square">
            <a:spAutoFit/>
          </a:bodyPr>
          <a:lstStyle/>
          <a:p>
            <a:pPr>
              <a:buFont typeface="Arial" panose="020B0604020202020204" pitchFamily="34" charset="0"/>
              <a:buChar char="•"/>
            </a:pPr>
            <a:r>
              <a:rPr lang="en-US" dirty="0"/>
              <a:t>Regular exercise reduces the risk of depression by </a:t>
            </a:r>
            <a:r>
              <a:rPr lang="en-US" b="1" dirty="0"/>
              <a:t>20–30%</a:t>
            </a:r>
            <a:r>
              <a:rPr lang="en-US" dirty="0"/>
              <a:t>.</a:t>
            </a:r>
          </a:p>
          <a:p>
            <a:endParaRPr lang="en-US" dirty="0"/>
          </a:p>
          <a:p>
            <a:pPr>
              <a:buFont typeface="Arial" panose="020B0604020202020204" pitchFamily="34" charset="0"/>
              <a:buChar char="•"/>
            </a:pPr>
            <a:r>
              <a:rPr lang="en-US" dirty="0"/>
              <a:t>Exercise boosts </a:t>
            </a:r>
            <a:r>
              <a:rPr lang="en-US" b="1" dirty="0"/>
              <a:t>endorphins</a:t>
            </a:r>
            <a:r>
              <a:rPr lang="en-US" dirty="0"/>
              <a:t> and </a:t>
            </a:r>
            <a:r>
              <a:rPr lang="en-US" b="1" dirty="0"/>
              <a:t>serotonin</a:t>
            </a:r>
            <a:r>
              <a:rPr lang="en-US" dirty="0"/>
              <a:t>, improving mood and reducing anxiety.</a:t>
            </a:r>
          </a:p>
          <a:p>
            <a:endParaRPr lang="en-US" dirty="0"/>
          </a:p>
          <a:p>
            <a:r>
              <a:rPr lang="en-US" dirty="0"/>
              <a:t>*Source: Harvard Health, Mayo Clinic</a:t>
            </a:r>
          </a:p>
        </p:txBody>
      </p:sp>
    </p:spTree>
    <p:extLst>
      <p:ext uri="{BB962C8B-B14F-4D97-AF65-F5344CB8AC3E}">
        <p14:creationId xmlns:p14="http://schemas.microsoft.com/office/powerpoint/2010/main" val="239074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FCCD6-A57E-B5FC-BEB7-0A11CFA70AC8}"/>
              </a:ext>
            </a:extLst>
          </p:cNvPr>
          <p:cNvSpPr>
            <a:spLocks noGrp="1"/>
          </p:cNvSpPr>
          <p:nvPr>
            <p:ph type="title"/>
          </p:nvPr>
        </p:nvSpPr>
        <p:spPr/>
        <p:txBody>
          <a:bodyPr>
            <a:normAutofit/>
          </a:bodyPr>
          <a:lstStyle/>
          <a:p>
            <a:r>
              <a:rPr lang="en-US" dirty="0"/>
              <a:t>Just 10 Minutes - </a:t>
            </a:r>
            <a:r>
              <a:rPr lang="en-US" b="1" dirty="0"/>
              <a:t>Small actions → Big results</a:t>
            </a:r>
            <a:r>
              <a:rPr lang="en-US" dirty="0"/>
              <a:t>.</a:t>
            </a:r>
          </a:p>
        </p:txBody>
      </p:sp>
      <p:pic>
        <p:nvPicPr>
          <p:cNvPr id="6" name="Picture Placeholder 5" descr="A pair of people walking on a road&#10;&#10;AI-generated content may be incorrect.">
            <a:extLst>
              <a:ext uri="{FF2B5EF4-FFF2-40B4-BE49-F238E27FC236}">
                <a16:creationId xmlns:a16="http://schemas.microsoft.com/office/drawing/2014/main" id="{DCD34BC1-9BBC-3D77-89BD-DA446D2C89A8}"/>
              </a:ext>
            </a:extLst>
          </p:cNvPr>
          <p:cNvPicPr>
            <a:picLocks noGrp="1" noChangeAspect="1"/>
          </p:cNvPicPr>
          <p:nvPr>
            <p:ph type="pic" sz="quarter" idx="13"/>
          </p:nvPr>
        </p:nvPicPr>
        <p:blipFill>
          <a:blip r:embed="rId3"/>
          <a:srcRect t="15000" b="15000"/>
          <a:stretch>
            <a:fillRect/>
          </a:stretch>
        </p:blipFill>
        <p:spPr/>
      </p:pic>
      <p:sp>
        <p:nvSpPr>
          <p:cNvPr id="4" name="Text Placeholder 3">
            <a:extLst>
              <a:ext uri="{FF2B5EF4-FFF2-40B4-BE49-F238E27FC236}">
                <a16:creationId xmlns:a16="http://schemas.microsoft.com/office/drawing/2014/main" id="{6353933E-75D2-DCBC-B50A-A4FEC1230D0E}"/>
              </a:ext>
            </a:extLst>
          </p:cNvPr>
          <p:cNvSpPr>
            <a:spLocks noGrp="1"/>
          </p:cNvSpPr>
          <p:nvPr>
            <p:ph type="body" sz="half" idx="2"/>
          </p:nvPr>
        </p:nvSpPr>
        <p:spPr/>
        <p:txBody>
          <a:bodyPr/>
          <a:lstStyle/>
          <a:p>
            <a:r>
              <a:rPr lang="en-US" dirty="0"/>
              <a:t>Only </a:t>
            </a:r>
            <a:r>
              <a:rPr lang="en-US" b="1" dirty="0"/>
              <a:t>10 minutes</a:t>
            </a:r>
            <a:r>
              <a:rPr lang="en-US" dirty="0"/>
              <a:t> of brisk activity can lift mental alertness and boost mood.</a:t>
            </a:r>
          </a:p>
          <a:p>
            <a:endParaRPr lang="en-US" dirty="0"/>
          </a:p>
        </p:txBody>
      </p:sp>
    </p:spTree>
    <p:extLst>
      <p:ext uri="{BB962C8B-B14F-4D97-AF65-F5344CB8AC3E}">
        <p14:creationId xmlns:p14="http://schemas.microsoft.com/office/powerpoint/2010/main" val="213256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64E9-DCB5-7E57-4612-93E4A469977F}"/>
              </a:ext>
            </a:extLst>
          </p:cNvPr>
          <p:cNvSpPr>
            <a:spLocks noGrp="1"/>
          </p:cNvSpPr>
          <p:nvPr>
            <p:ph type="title"/>
          </p:nvPr>
        </p:nvSpPr>
        <p:spPr/>
        <p:txBody>
          <a:bodyPr/>
          <a:lstStyle/>
          <a:p>
            <a:r>
              <a:rPr lang="en-US" i="1" dirty="0"/>
              <a:t>“Discipline is like a muscle — the more you train it, the stronger it gets.”</a:t>
            </a:r>
            <a:endParaRPr lang="en-US" dirty="0"/>
          </a:p>
        </p:txBody>
      </p:sp>
      <p:sp>
        <p:nvSpPr>
          <p:cNvPr id="3" name="Text Placeholder 2">
            <a:extLst>
              <a:ext uri="{FF2B5EF4-FFF2-40B4-BE49-F238E27FC236}">
                <a16:creationId xmlns:a16="http://schemas.microsoft.com/office/drawing/2014/main" id="{0956E537-D18B-8C40-8ABE-1E889E0D3798}"/>
              </a:ext>
            </a:extLst>
          </p:cNvPr>
          <p:cNvSpPr>
            <a:spLocks noGrp="1"/>
          </p:cNvSpPr>
          <p:nvPr>
            <p:ph type="body" idx="1"/>
          </p:nvPr>
        </p:nvSpPr>
        <p:spPr/>
        <p:txBody>
          <a:bodyPr/>
          <a:lstStyle/>
          <a:p>
            <a:r>
              <a:rPr lang="en-US" b="1" dirty="0"/>
              <a:t>Discipline as a Skill</a:t>
            </a:r>
          </a:p>
          <a:p>
            <a:endParaRPr lang="en-US" dirty="0"/>
          </a:p>
        </p:txBody>
      </p:sp>
      <p:pic>
        <p:nvPicPr>
          <p:cNvPr id="6" name="Picture 5" descr="A red and white target with blue darts hitting the center&#10;&#10;AI-generated content may be incorrect.">
            <a:extLst>
              <a:ext uri="{FF2B5EF4-FFF2-40B4-BE49-F238E27FC236}">
                <a16:creationId xmlns:a16="http://schemas.microsoft.com/office/drawing/2014/main" id="{C4638F9F-2F5D-AB4A-90A7-A90A8EEED6C4}"/>
              </a:ext>
            </a:extLst>
          </p:cNvPr>
          <p:cNvPicPr>
            <a:picLocks noChangeAspect="1"/>
          </p:cNvPicPr>
          <p:nvPr/>
        </p:nvPicPr>
        <p:blipFill>
          <a:blip r:embed="rId3"/>
          <a:stretch>
            <a:fillRect/>
          </a:stretch>
        </p:blipFill>
        <p:spPr>
          <a:xfrm>
            <a:off x="7347078" y="910769"/>
            <a:ext cx="4710548" cy="3532911"/>
          </a:xfrm>
          <a:prstGeom prst="rect">
            <a:avLst/>
          </a:prstGeom>
        </p:spPr>
      </p:pic>
    </p:spTree>
    <p:extLst>
      <p:ext uri="{BB962C8B-B14F-4D97-AF65-F5344CB8AC3E}">
        <p14:creationId xmlns:p14="http://schemas.microsoft.com/office/powerpoint/2010/main" val="372714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C673-0C90-B083-0AAC-AF18DA0FB63D}"/>
              </a:ext>
            </a:extLst>
          </p:cNvPr>
          <p:cNvSpPr>
            <a:spLocks noGrp="1"/>
          </p:cNvSpPr>
          <p:nvPr>
            <p:ph type="title"/>
          </p:nvPr>
        </p:nvSpPr>
        <p:spPr/>
        <p:txBody>
          <a:bodyPr/>
          <a:lstStyle/>
          <a:p>
            <a:r>
              <a:rPr lang="en-US" dirty="0"/>
              <a:t>What’s Next?</a:t>
            </a:r>
          </a:p>
        </p:txBody>
      </p:sp>
      <p:sp>
        <p:nvSpPr>
          <p:cNvPr id="4" name="Text Placeholder 3">
            <a:extLst>
              <a:ext uri="{FF2B5EF4-FFF2-40B4-BE49-F238E27FC236}">
                <a16:creationId xmlns:a16="http://schemas.microsoft.com/office/drawing/2014/main" id="{5CF18E09-A41F-E73D-089B-170E55EAC81B}"/>
              </a:ext>
            </a:extLst>
          </p:cNvPr>
          <p:cNvSpPr>
            <a:spLocks noGrp="1"/>
          </p:cNvSpPr>
          <p:nvPr>
            <p:ph type="body" sz="half" idx="2"/>
          </p:nvPr>
        </p:nvSpPr>
        <p:spPr/>
        <p:txBody>
          <a:bodyPr>
            <a:normAutofit lnSpcReduction="10000"/>
          </a:bodyPr>
          <a:lstStyle/>
          <a:p>
            <a:pPr>
              <a:buFont typeface="Arial" panose="020B0604020202020204" pitchFamily="34" charset="0"/>
              <a:buChar char="•"/>
            </a:pPr>
            <a:r>
              <a:rPr lang="en-US" sz="1600" dirty="0"/>
              <a:t>Build your </a:t>
            </a:r>
            <a:r>
              <a:rPr lang="en-US" sz="1600" i="1" dirty="0"/>
              <a:t>daily habits</a:t>
            </a:r>
            <a:r>
              <a:rPr lang="en-US" sz="1600" dirty="0"/>
              <a:t>.</a:t>
            </a:r>
          </a:p>
          <a:p>
            <a:endParaRPr lang="en-US" sz="1600" dirty="0"/>
          </a:p>
          <a:p>
            <a:pPr>
              <a:buFont typeface="Arial" panose="020B0604020202020204" pitchFamily="34" charset="0"/>
              <a:buChar char="•"/>
            </a:pPr>
            <a:r>
              <a:rPr lang="en-US" sz="1600" dirty="0"/>
              <a:t>Move every day — even a little counts.</a:t>
            </a:r>
          </a:p>
          <a:p>
            <a:endParaRPr lang="en-US" sz="1600" dirty="0"/>
          </a:p>
          <a:p>
            <a:pPr>
              <a:buFont typeface="Arial" panose="020B0604020202020204" pitchFamily="34" charset="0"/>
              <a:buChar char="•"/>
            </a:pPr>
            <a:r>
              <a:rPr lang="en-US" sz="1600" dirty="0"/>
              <a:t>Choose discipline over motivation.</a:t>
            </a:r>
          </a:p>
          <a:p>
            <a:endParaRPr lang="en-US" sz="1600" dirty="0"/>
          </a:p>
          <a:p>
            <a:pPr>
              <a:buFont typeface="Arial" panose="020B0604020202020204" pitchFamily="34" charset="0"/>
              <a:buChar char="•"/>
            </a:pPr>
            <a:r>
              <a:rPr lang="en-US" sz="1600" dirty="0"/>
              <a:t>Join our </a:t>
            </a:r>
            <a:r>
              <a:rPr lang="en-US" sz="1600" b="1" dirty="0"/>
              <a:t>30-Day Movement Challenge</a:t>
            </a:r>
            <a:r>
              <a:rPr lang="en-US" sz="1600" dirty="0"/>
              <a:t>.</a:t>
            </a:r>
          </a:p>
          <a:p>
            <a:endParaRPr lang="en-US" sz="1600" dirty="0"/>
          </a:p>
          <a:p>
            <a:pPr>
              <a:buFont typeface="Arial" panose="020B0604020202020204" pitchFamily="34" charset="0"/>
              <a:buChar char="•"/>
            </a:pPr>
            <a:r>
              <a:rPr lang="en-US" sz="1600" dirty="0"/>
              <a:t>Ask about my BASECAMP </a:t>
            </a:r>
            <a:r>
              <a:rPr lang="en-US" sz="1600" b="1" dirty="0"/>
              <a:t>Accountability Coaching</a:t>
            </a:r>
            <a:r>
              <a:rPr lang="en-US" sz="1600" dirty="0"/>
              <a:t>!</a:t>
            </a:r>
          </a:p>
          <a:p>
            <a:endParaRPr lang="en-US" dirty="0"/>
          </a:p>
        </p:txBody>
      </p:sp>
      <p:pic>
        <p:nvPicPr>
          <p:cNvPr id="18" name="Picture Placeholder 17" descr="A yellow post-it note with black text on it&#10;&#10;AI-generated content may be incorrect.">
            <a:extLst>
              <a:ext uri="{FF2B5EF4-FFF2-40B4-BE49-F238E27FC236}">
                <a16:creationId xmlns:a16="http://schemas.microsoft.com/office/drawing/2014/main" id="{97493D58-0851-B21D-6207-62770EC5D3CA}"/>
              </a:ext>
            </a:extLst>
          </p:cNvPr>
          <p:cNvPicPr>
            <a:picLocks noGrp="1" noChangeAspect="1"/>
          </p:cNvPicPr>
          <p:nvPr>
            <p:ph type="pic" sz="quarter" idx="13"/>
          </p:nvPr>
        </p:nvPicPr>
        <p:blipFill>
          <a:blip r:embed="rId2"/>
          <a:srcRect l="5567" r="5567"/>
          <a:stretch>
            <a:fillRect/>
          </a:stretch>
        </p:blipFill>
        <p:spPr>
          <a:xfrm>
            <a:off x="6272981" y="191729"/>
            <a:ext cx="5753150" cy="6474542"/>
          </a:xfrm>
        </p:spPr>
      </p:pic>
    </p:spTree>
    <p:extLst>
      <p:ext uri="{BB962C8B-B14F-4D97-AF65-F5344CB8AC3E}">
        <p14:creationId xmlns:p14="http://schemas.microsoft.com/office/powerpoint/2010/main" val="1440657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0</TotalTime>
  <Words>1163</Words>
  <Application>Microsoft Macintosh PowerPoint</Application>
  <PresentationFormat>Widescreen</PresentationFormat>
  <Paragraphs>93</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adelle-sans</vt:lpstr>
      <vt:lpstr>Aptos</vt:lpstr>
      <vt:lpstr>Arial</vt:lpstr>
      <vt:lpstr>Century Gothic</vt:lpstr>
      <vt:lpstr>Google Sans</vt:lpstr>
      <vt:lpstr>Wingdings 2</vt:lpstr>
      <vt:lpstr>Quotable</vt:lpstr>
      <vt:lpstr>“Move to Improve: Discipline &amp; Freedom Workshop” </vt:lpstr>
      <vt:lpstr>“Discipline equals freedom.”</vt:lpstr>
      <vt:lpstr>“Movement is medicine for creating change in a person’s physical, emotional, and mental states.” — Carol Welch </vt:lpstr>
      <vt:lpstr>“Motivation gets you going. Discipline keeps you growing.” — John C. Maxwell</vt:lpstr>
      <vt:lpstr>Exercise &amp; Mental Health</vt:lpstr>
      <vt:lpstr>Just 10 Minutes - Small actions → Big results.</vt:lpstr>
      <vt:lpstr>“Discipline is like a muscle — the more you train it, the stronger it gets.”</vt:lpstr>
      <vt:lpstr>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Keith McHugh</dc:creator>
  <cp:lastModifiedBy>Keith McHugh</cp:lastModifiedBy>
  <cp:revision>1</cp:revision>
  <dcterms:created xsi:type="dcterms:W3CDTF">2025-04-29T14:40:32Z</dcterms:created>
  <dcterms:modified xsi:type="dcterms:W3CDTF">2025-04-29T15:29:05Z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2025-04-29T15:18:10Z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894f681c-e4bb-489b-91ff-bd6ddcb0a402</vt:lpwstr>
  </property>
  <property fmtid="{D5CDD505-2E9C-101B-9397-08002B2CF9AE}" pid="7" name="MSIP_Label_defa4170-0d19-0005-0004-bc88714345d2_ActionId">
    <vt:lpwstr>f552492b-2db8-4b27-91a1-3344aca0149d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